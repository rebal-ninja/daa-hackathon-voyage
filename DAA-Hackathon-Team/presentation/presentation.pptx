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 type="screen16x9"/>
  <p:notesSz cx="9144000" cy="6858000.0"/>
  <p:defaultTextStyle>
    <a:defPPr>
      <a:defRPr lang="en-US">
        <a:latin typeface="Aptos"/>
      </a:defRPr>
    </a:defPPr>
  </p:defaultTextStyle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slides/slide1.xml" /><ns0:Relationship Id="rId2" Type="http://schemas.openxmlformats.org/officeDocument/2006/relationships/slide" Target="slides/slide2.xml" /><ns0:Relationship Id="rId3" Type="http://schemas.openxmlformats.org/officeDocument/2006/relationships/slide" Target="slides/slide3.xml" /><ns0:Relationship Id="rId4" Type="http://schemas.openxmlformats.org/officeDocument/2006/relationships/slide" Target="slides/slide4.xml" /><ns0:Relationship Id="rId5" Type="http://schemas.openxmlformats.org/officeDocument/2006/relationships/slide" Target="slides/slide5.xml" /><ns0:Relationship Id="rId6" Type="http://schemas.openxmlformats.org/officeDocument/2006/relationships/slide" Target="slides/slide6.xml" /><ns0:Relationship Id="rId7" Type="http://schemas.openxmlformats.org/officeDocument/2006/relationships/slide" Target="slides/slide7.xml" /><ns0:Relationship Id="rId8" Type="http://schemas.openxmlformats.org/officeDocument/2006/relationships/slide" Target="slides/slide8.xml" /><ns0:Relationship Id="rId9" Type="http://schemas.openxmlformats.org/officeDocument/2006/relationships/slideMaster" Target="slideMasters/slideMaster1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dk1="dk1" dk2="dk2" folHlink="folHlink" hlink="hlink" tx1="dk1" tx2="dk2"/>
  <p:sldLayoutIdLst>
    <p:sldLayoutId id="1" r:id="rId1"/>
  </p:sldLayoutIdLst>
  <p:titleStyle>
    <a:lvl1pPr>
      <a:defRPr lang="en-US">
        <a:latin typeface="Aptos"/>
      </a:defRPr>
    </a:lvl1pPr>
  </p:titleStyle>
  <p:bodyStyle>
    <a:lvl1pPr>
      <a:defRPr lang="en-US">
        <a:latin typeface="Aptos"/>
      </a:defRPr>
    </a:lvl1pPr>
  </p:bodyStyle>
  <p:otherStyle>
    <a:lvl1pPr>
      <a:defRPr lang="en-US">
        <a:latin typeface="Aptos"/>
      </a:defRPr>
    </a:lvl1pPr>
  </p:otherStyle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/>
          <p:cNvSpPr/>
          <p:nvPr/>
        </p:nvSpPr>
        <p:spPr>
          <a:xfrm>
            <a:off x="685800" y="685800"/>
            <a:ext cx="100584" cy="5074920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5" name="Text 4"/>
          <p:cNvSpPr txBox="1"/>
          <p:nvPr/>
        </p:nvSpPr>
        <p:spPr>
          <a:xfrm>
            <a:off x="1051560" y="749808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1" i="0">
                <a:solidFill>
                  <a:srgbClr val="D0D0D0"/>
                </a:solidFill>
                <a:latin typeface="Aptos"/>
              </a:rPr>
              <a:t>DESIGN &amp; ANALYSIS OF ALGORITHMS  /  HACKATHON</a:t>
            </a:r>
            <a:endParaRPr lang="en-US" sz="1100"/>
          </a:p>
        </p:txBody>
      </p:sp>
      <p:sp>
        <p:nvSpPr>
          <p:cNvPr id="6" name="Text 5"/>
          <p:cNvSpPr txBox="1"/>
          <p:nvPr/>
        </p:nvSpPr>
        <p:spPr>
          <a:xfrm>
            <a:off x="1024128" y="1828800"/>
            <a:ext cx="9875520" cy="12344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4300" b="1" i="0">
                <a:solidFill>
                  <a:srgbClr val="FFFFFF"/>
                </a:solidFill>
                <a:latin typeface="Aptos"/>
              </a:rPr>
              <a:t>VoyageAI</a:t>
            </a:r>
            <a:endParaRPr lang="en-US" sz="4300"/>
          </a:p>
        </p:txBody>
      </p:sp>
      <p:sp>
        <p:nvSpPr>
          <p:cNvPr id="7" name="Text 6"/>
          <p:cNvSpPr txBox="1"/>
          <p:nvPr/>
        </p:nvSpPr>
        <p:spPr>
          <a:xfrm>
            <a:off x="1051560" y="3090672"/>
            <a:ext cx="9966960" cy="8686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400" b="1" i="0">
                <a:solidFill>
                  <a:srgbClr val="E7E7E7"/>
                </a:solidFill>
                <a:latin typeface="Aptos"/>
              </a:rPr>
              <a:t>Multi-stop route optimization</a:t>
            </a:r>
            <a:endParaRPr lang="en-US" sz="2400"/>
          </a:p>
          <a:p>
            <a:pPr algn="l"/>
            <a:r>
              <a:rPr lang="en-US" sz="2400" b="1" i="0">
                <a:solidFill>
                  <a:srgbClr val="E7E7E7"/>
                </a:solidFill>
                <a:latin typeface="Aptos"/>
              </a:rPr>
              <a:t>with classic DAA algorithms</a:t>
            </a:r>
            <a:endParaRPr lang="en-US" sz="2400"/>
          </a:p>
        </p:txBody>
      </p:sp>
      <p:sp>
        <p:nvSpPr>
          <p:cNvPr id="8" name="Text 7"/>
          <p:cNvSpPr txBox="1"/>
          <p:nvPr/>
        </p:nvSpPr>
        <p:spPr>
          <a:xfrm>
            <a:off x="1069848" y="4315968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0" i="0">
                <a:solidFill>
                  <a:srgbClr val="BBBBBB"/>
                </a:solidFill>
                <a:latin typeface="Aptos"/>
              </a:rPr>
              <a:t>A practical Traveling Salesperson Problem (TSP) exploration</a:t>
            </a:r>
            <a:endParaRPr lang="en-US" sz="1600"/>
          </a:p>
        </p:txBody>
      </p:sp>
      <p:sp>
        <p:nvSpPr>
          <p:cNvPr id="9" name="Shape 8"/>
          <p:cNvSpPr/>
          <p:nvPr/>
        </p:nvSpPr>
        <p:spPr>
          <a:xfrm>
            <a:off x="1051560" y="5175504"/>
            <a:ext cx="10195560" cy="621792"/>
          </a:xfrm>
          <a:prstGeom prst="roundRect">
            <a:avLst/>
          </a:prstGeom>
          <a:solidFill>
            <a:srgbClr val="292929"/>
          </a:solidFill>
          <a:ln w="7620">
            <a:solidFill>
              <a:srgbClr val="444444"/>
            </a:solidFill>
          </a:ln>
        </p:spPr>
      </p:sp>
      <p:sp>
        <p:nvSpPr>
          <p:cNvPr id="10" name="Text 9"/>
          <p:cNvSpPr txBox="1"/>
          <p:nvPr/>
        </p:nvSpPr>
        <p:spPr>
          <a:xfrm>
            <a:off x="1280160" y="5285232"/>
            <a:ext cx="97383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300" b="1" i="0">
                <a:solidFill>
                  <a:srgbClr val="F1F1F1"/>
                </a:solidFill>
                <a:latin typeface="Aptos"/>
              </a:rPr>
              <a:t>GREEDY   -   DYNAMIC PROGRAMMING   -   EXHAUSTIVE SEARCH</a:t>
            </a:r>
            <a:endParaRPr lang="en-US" sz="1300"/>
          </a:p>
        </p:txBody>
      </p:sp>
      <p:sp>
        <p:nvSpPr>
          <p:cNvPr id="11" name="Text 10"/>
          <p:cNvSpPr txBox="1"/>
          <p:nvPr/>
        </p:nvSpPr>
        <p:spPr>
          <a:xfrm>
            <a:off x="1051560" y="6144768"/>
            <a:ext cx="9875520" cy="23774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000" b="0" i="0">
                <a:solidFill>
                  <a:srgbClr val="B8B8B8"/>
                </a:solidFill>
                <a:latin typeface="Aptos"/>
              </a:rPr>
              <a:t>College hackathon jury presentation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The route-planning problem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One distance matrix. Many possible city orders.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02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58368" y="1508760"/>
            <a:ext cx="5230368" cy="18470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0" name="Shape 9"/>
          <p:cNvSpPr/>
          <p:nvPr/>
        </p:nvSpPr>
        <p:spPr>
          <a:xfrm>
            <a:off x="658368" y="1508760"/>
            <a:ext cx="64008" cy="184708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77824" y="1645920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Problem statement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877824" y="2075688"/>
            <a:ext cx="4791456" cy="11521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600" b="0" i="0">
                <a:solidFill>
                  <a:srgbClr val="626262"/>
                </a:solidFill>
                <a:latin typeface="Aptos"/>
              </a:rPr>
              <a:t>Given N cities and pairwise travel distances, order the visits to minimize total route distance. A trip can return to its start (closed tour) or finish at its final stop (open route).</a:t>
            </a:r>
            <a:endParaRPr lang="en-US" sz="1600"/>
          </a:p>
        </p:txBody>
      </p:sp>
      <p:sp>
        <p:nvSpPr>
          <p:cNvPr id="13" name="Shape 12"/>
          <p:cNvSpPr/>
          <p:nvPr/>
        </p:nvSpPr>
        <p:spPr>
          <a:xfrm>
            <a:off x="6126480" y="1508760"/>
            <a:ext cx="5376672" cy="18470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4" name="Shape 13"/>
          <p:cNvSpPr/>
          <p:nvPr/>
        </p:nvSpPr>
        <p:spPr>
          <a:xfrm>
            <a:off x="6126480" y="1508760"/>
            <a:ext cx="64008" cy="184708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345936" y="1645920"/>
            <a:ext cx="496519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Why it is challenging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6345936" y="2075688"/>
            <a:ext cx="4937760" cy="11521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600" b="0" i="0">
                <a:solidFill>
                  <a:srgbClr val="626262"/>
                </a:solidFill>
                <a:latin typeface="Aptos"/>
              </a:rPr>
              <a:t>The number of possible visit orders grows factorially. Exhaustive search is useful for tiny cases, but does not scale to larger city sets.</a:t>
            </a:r>
            <a:endParaRPr lang="en-US" sz="1600"/>
          </a:p>
        </p:txBody>
      </p:sp>
      <p:sp>
        <p:nvSpPr>
          <p:cNvPr id="17" name="Text 16"/>
          <p:cNvSpPr txBox="1"/>
          <p:nvPr/>
        </p:nvSpPr>
        <p:spPr>
          <a:xfrm>
            <a:off x="713232" y="37033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PROJECT OBJECTIVES</a:t>
            </a:r>
            <a:endParaRPr lang="en-US" sz="1200"/>
          </a:p>
        </p:txBody>
      </p:sp>
      <p:sp>
        <p:nvSpPr>
          <p:cNvPr id="18" name="Shape 17"/>
          <p:cNvSpPr/>
          <p:nvPr/>
        </p:nvSpPr>
        <p:spPr>
          <a:xfrm>
            <a:off x="749808" y="4270248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950976" y="4160520"/>
            <a:ext cx="10405872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0" i="0">
                <a:solidFill>
                  <a:srgbClr val="242424"/>
                </a:solidFill>
                <a:latin typeface="Aptos"/>
              </a:rPr>
              <a:t>Implement and compare three DAA paradigms for TSP.</a:t>
            </a:r>
            <a:endParaRPr lang="en-US" sz="1600"/>
          </a:p>
        </p:txBody>
      </p:sp>
      <p:sp>
        <p:nvSpPr>
          <p:cNvPr id="20" name="Shape 19"/>
          <p:cNvSpPr/>
          <p:nvPr/>
        </p:nvSpPr>
        <p:spPr>
          <a:xfrm>
            <a:off x="749808" y="4709160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950976" y="4599432"/>
            <a:ext cx="10405872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0" i="0">
                <a:solidFill>
                  <a:srgbClr val="242424"/>
                </a:solidFill>
                <a:latin typeface="Aptos"/>
              </a:rPr>
              <a:t>Support open paths and round trips in the solvers.</a:t>
            </a:r>
            <a:endParaRPr lang="en-US" sz="1600"/>
          </a:p>
        </p:txBody>
      </p:sp>
      <p:sp>
        <p:nvSpPr>
          <p:cNvPr id="22" name="Shape 21"/>
          <p:cNvSpPr/>
          <p:nvPr/>
        </p:nvSpPr>
        <p:spPr>
          <a:xfrm>
            <a:off x="749808" y="5148072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950976" y="5038344"/>
            <a:ext cx="10405872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0" i="0">
                <a:solidFill>
                  <a:srgbClr val="242424"/>
                </a:solidFill>
                <a:latin typeface="Aptos"/>
              </a:rPr>
              <a:t>Use road-network distances when available, with a transparent estimate fallback.</a:t>
            </a:r>
            <a:endParaRPr lang="en-US" sz="1600"/>
          </a:p>
        </p:txBody>
      </p:sp>
      <p:sp>
        <p:nvSpPr>
          <p:cNvPr id="24" name="Shape 23"/>
          <p:cNvSpPr/>
          <p:nvPr/>
        </p:nvSpPr>
        <p:spPr>
          <a:xfrm>
            <a:off x="749808" y="5586984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5" name="Text 24"/>
          <p:cNvSpPr txBox="1"/>
          <p:nvPr/>
        </p:nvSpPr>
        <p:spPr>
          <a:xfrm>
            <a:off x="950976" y="5477256"/>
            <a:ext cx="10405872" cy="40233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0" i="0">
                <a:solidFill>
                  <a:srgbClr val="242424"/>
                </a:solidFill>
                <a:latin typeface="Aptos"/>
              </a:rPr>
              <a:t>Present routes and algorithm results in an interactive map-based application.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From destinations to a route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The optimizer consumes a pairwise distance matrix.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03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12648" y="1828800"/>
            <a:ext cx="2578608" cy="2057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0" name="Text 9"/>
          <p:cNvSpPr txBox="1"/>
          <p:nvPr/>
        </p:nvSpPr>
        <p:spPr>
          <a:xfrm>
            <a:off x="786384" y="2029968"/>
            <a:ext cx="22219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01  DESTINATIONS</a:t>
            </a:r>
            <a:endParaRPr lang="en-US" sz="1200"/>
          </a:p>
        </p:txBody>
      </p:sp>
      <p:sp>
        <p:nvSpPr>
          <p:cNvPr id="11" name="Text 10"/>
          <p:cNvSpPr txBox="1"/>
          <p:nvPr/>
        </p:nvSpPr>
        <p:spPr>
          <a:xfrm>
            <a:off x="786384" y="2551176"/>
            <a:ext cx="2212848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Search and select cities; set stop order, vehicle, and trip mode.</a:t>
            </a:r>
            <a:endParaRPr lang="en-US" sz="1500"/>
          </a:p>
        </p:txBody>
      </p:sp>
      <p:sp>
        <p:nvSpPr>
          <p:cNvPr id="12" name="Text 11"/>
          <p:cNvSpPr txBox="1"/>
          <p:nvPr/>
        </p:nvSpPr>
        <p:spPr>
          <a:xfrm>
            <a:off x="3200400" y="2523744"/>
            <a:ext cx="29260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lang="en-US" sz="2400" b="1" i="0">
                <a:solidFill>
                  <a:srgbClr val="326B4B"/>
                </a:solidFill>
                <a:latin typeface="Aptos"/>
              </a:rPr>
              <a:t> - </a:t>
            </a:r>
            <a:endParaRPr lang="en-US" sz="2400"/>
          </a:p>
        </p:txBody>
      </p:sp>
      <p:sp>
        <p:nvSpPr>
          <p:cNvPr id="13" name="Shape 12"/>
          <p:cNvSpPr/>
          <p:nvPr/>
        </p:nvSpPr>
        <p:spPr>
          <a:xfrm>
            <a:off x="3493008" y="1828800"/>
            <a:ext cx="2578608" cy="2057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4" name="Text 13"/>
          <p:cNvSpPr txBox="1"/>
          <p:nvPr/>
        </p:nvSpPr>
        <p:spPr>
          <a:xfrm>
            <a:off x="3666744" y="2029968"/>
            <a:ext cx="22219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02  DISTANCE INPUT</a:t>
            </a:r>
            <a:endParaRPr lang="en-US" sz="1200"/>
          </a:p>
        </p:txBody>
      </p:sp>
      <p:sp>
        <p:nvSpPr>
          <p:cNvPr id="15" name="Text 14"/>
          <p:cNvSpPr txBox="1"/>
          <p:nvPr/>
        </p:nvSpPr>
        <p:spPr>
          <a:xfrm>
            <a:off x="3666744" y="2551176"/>
            <a:ext cx="2212848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OSRM road-distance and duration matrix; Haversine estimate if unavailable.</a:t>
            </a:r>
            <a:endParaRPr lang="en-US" sz="1500"/>
          </a:p>
        </p:txBody>
      </p:sp>
      <p:sp>
        <p:nvSpPr>
          <p:cNvPr id="16" name="Text 15"/>
          <p:cNvSpPr txBox="1"/>
          <p:nvPr/>
        </p:nvSpPr>
        <p:spPr>
          <a:xfrm>
            <a:off x="6080760" y="2523744"/>
            <a:ext cx="29260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lang="en-US" sz="2400" b="1" i="0">
                <a:solidFill>
                  <a:srgbClr val="326B4B"/>
                </a:solidFill>
                <a:latin typeface="Aptos"/>
              </a:rPr>
              <a:t> - </a:t>
            </a:r>
            <a:endParaRPr lang="en-US" sz="2400"/>
          </a:p>
        </p:txBody>
      </p:sp>
      <p:sp>
        <p:nvSpPr>
          <p:cNvPr id="17" name="Shape 16"/>
          <p:cNvSpPr/>
          <p:nvPr/>
        </p:nvSpPr>
        <p:spPr>
          <a:xfrm>
            <a:off x="6373368" y="1828800"/>
            <a:ext cx="2578608" cy="2057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8" name="Text 17"/>
          <p:cNvSpPr txBox="1"/>
          <p:nvPr/>
        </p:nvSpPr>
        <p:spPr>
          <a:xfrm>
            <a:off x="6547104" y="2029968"/>
            <a:ext cx="22219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03  DAA SOLVER</a:t>
            </a:r>
            <a:endParaRPr lang="en-US" sz="1200"/>
          </a:p>
        </p:txBody>
      </p:sp>
      <p:sp>
        <p:nvSpPr>
          <p:cNvPr id="19" name="Text 18"/>
          <p:cNvSpPr txBox="1"/>
          <p:nvPr/>
        </p:nvSpPr>
        <p:spPr>
          <a:xfrm>
            <a:off x="6547104" y="2551176"/>
            <a:ext cx="2212848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Run Nearest Neighbor, Held - Karp, or Brute Force on the same matrix.</a:t>
            </a:r>
            <a:endParaRPr lang="en-US" sz="1500"/>
          </a:p>
        </p:txBody>
      </p:sp>
      <p:sp>
        <p:nvSpPr>
          <p:cNvPr id="20" name="Text 19"/>
          <p:cNvSpPr txBox="1"/>
          <p:nvPr/>
        </p:nvSpPr>
        <p:spPr>
          <a:xfrm>
            <a:off x="8961120" y="2523744"/>
            <a:ext cx="29260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lang="en-US" sz="2400" b="1" i="0">
                <a:solidFill>
                  <a:srgbClr val="326B4B"/>
                </a:solidFill>
                <a:latin typeface="Aptos"/>
              </a:rPr>
              <a:t> - </a:t>
            </a:r>
            <a:endParaRPr lang="en-US" sz="2400"/>
          </a:p>
        </p:txBody>
      </p:sp>
      <p:sp>
        <p:nvSpPr>
          <p:cNvPr id="21" name="Shape 20"/>
          <p:cNvSpPr/>
          <p:nvPr/>
        </p:nvSpPr>
        <p:spPr>
          <a:xfrm>
            <a:off x="9253728" y="1828800"/>
            <a:ext cx="2578608" cy="20574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2" name="Text 21"/>
          <p:cNvSpPr txBox="1"/>
          <p:nvPr/>
        </p:nvSpPr>
        <p:spPr>
          <a:xfrm>
            <a:off x="9427464" y="2029968"/>
            <a:ext cx="2221992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04  RESULTS</a:t>
            </a:r>
            <a:endParaRPr lang="en-US" sz="1200"/>
          </a:p>
        </p:txBody>
      </p:sp>
      <p:sp>
        <p:nvSpPr>
          <p:cNvPr id="23" name="Text 22"/>
          <p:cNvSpPr txBox="1"/>
          <p:nvPr/>
        </p:nvSpPr>
        <p:spPr>
          <a:xfrm>
            <a:off x="9427464" y="2551176"/>
            <a:ext cx="2212848" cy="105156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Ordered stops, route geometry, map markers, comparison, and cost estimate.</a:t>
            </a:r>
            <a:endParaRPr lang="en-US" sz="1500"/>
          </a:p>
        </p:txBody>
      </p:sp>
      <p:sp>
        <p:nvSpPr>
          <p:cNvPr id="24" name="Shape 23"/>
          <p:cNvSpPr/>
          <p:nvPr/>
        </p:nvSpPr>
        <p:spPr>
          <a:xfrm>
            <a:off x="658368" y="4343400"/>
            <a:ext cx="10835640" cy="1033272"/>
          </a:xfrm>
          <a:prstGeom prst="roundRect">
            <a:avLst/>
          </a:prstGeom>
          <a:solidFill>
            <a:srgbClr val="E8EFEA"/>
          </a:solidFill>
          <a:ln w="7620">
            <a:solidFill>
              <a:srgbClr val="CCD8CE"/>
            </a:solidFill>
          </a:ln>
        </p:spPr>
      </p:sp>
      <p:sp>
        <p:nvSpPr>
          <p:cNvPr id="25" name="Text 24"/>
          <p:cNvSpPr txBox="1"/>
          <p:nvPr/>
        </p:nvSpPr>
        <p:spPr>
          <a:xfrm>
            <a:off x="886968" y="4480560"/>
            <a:ext cx="10378440" cy="6858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Map routing is separate from optimization: OSRM supplies distances and route geometry when available. The local fallback estimates distances from coordinates using a road-circuity factor and average speed.</a:t>
            </a:r>
            <a:endParaRPr lang="en-US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Three algorithmic strategies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Compare speed, memory, and optimality - not just the route.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04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12648" y="1554480"/>
            <a:ext cx="3584448" cy="43159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0" name="Text 9"/>
          <p:cNvSpPr txBox="1"/>
          <p:nvPr/>
        </p:nvSpPr>
        <p:spPr>
          <a:xfrm>
            <a:off x="832104" y="178308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1" i="0">
                <a:solidFill>
                  <a:srgbClr val="326B4B"/>
                </a:solidFill>
                <a:latin typeface="Aptos"/>
              </a:rPr>
              <a:t>NEAREST NEIGHBOR</a:t>
            </a:r>
            <a:endParaRPr lang="en-US" sz="1700"/>
          </a:p>
        </p:txBody>
      </p:sp>
      <p:sp>
        <p:nvSpPr>
          <p:cNvPr id="11" name="Text 10"/>
          <p:cNvSpPr txBox="1"/>
          <p:nvPr/>
        </p:nvSpPr>
        <p:spPr>
          <a:xfrm>
            <a:off x="832104" y="2167128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0" i="0">
                <a:solidFill>
                  <a:srgbClr val="626262"/>
                </a:solidFill>
                <a:latin typeface="Aptos"/>
              </a:rPr>
              <a:t>Greedy heuristic</a:t>
            </a:r>
            <a:endParaRPr lang="en-US" sz="1200"/>
          </a:p>
        </p:txBody>
      </p:sp>
      <p:sp>
        <p:nvSpPr>
          <p:cNvPr id="12" name="Shape 11"/>
          <p:cNvSpPr/>
          <p:nvPr/>
        </p:nvSpPr>
        <p:spPr>
          <a:xfrm>
            <a:off x="822960" y="2651760"/>
            <a:ext cx="3154680" cy="804672"/>
          </a:xfrm>
          <a:prstGeom prst="roundRect">
            <a:avLst/>
          </a:prstGeom>
          <a:solidFill>
            <a:srgbClr val="E8EFEA"/>
          </a:solidFill>
          <a:ln w="7620">
            <a:solidFill>
              <a:srgbClr val="D7E1D9"/>
            </a:solidFill>
          </a:ln>
        </p:spPr>
      </p:sp>
      <p:sp>
        <p:nvSpPr>
          <p:cNvPr id="13" name="Text 12"/>
          <p:cNvSpPr txBox="1"/>
          <p:nvPr/>
        </p:nvSpPr>
        <p:spPr>
          <a:xfrm>
            <a:off x="969264" y="2770632"/>
            <a:ext cx="2852928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 - ) time</a:t>
            </a:r>
            <a:endParaRPr lang="en-US" sz="1400"/>
          </a:p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O(N) space</a:t>
            </a:r>
            <a:endParaRPr lang="en-US" sz="1400"/>
          </a:p>
        </p:txBody>
      </p:sp>
      <p:sp>
        <p:nvSpPr>
          <p:cNvPr id="14" name="Text 13"/>
          <p:cNvSpPr txBox="1"/>
          <p:nvPr/>
        </p:nvSpPr>
        <p:spPr>
          <a:xfrm>
            <a:off x="841248" y="3675888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Fast; chooses the nearest unvisited city. No global optimality guarantee.</a:t>
            </a:r>
            <a:endParaRPr lang="en-US" sz="1500"/>
          </a:p>
        </p:txBody>
      </p:sp>
      <p:sp>
        <p:nvSpPr>
          <p:cNvPr id="15" name="Text 14"/>
          <p:cNvSpPr txBox="1"/>
          <p:nvPr/>
        </p:nvSpPr>
        <p:spPr>
          <a:xfrm>
            <a:off x="841248" y="513892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No exactness guarantee</a:t>
            </a:r>
            <a:endParaRPr lang="en-US" sz="1200"/>
          </a:p>
        </p:txBody>
      </p:sp>
      <p:sp>
        <p:nvSpPr>
          <p:cNvPr id="16" name="Shape 15"/>
          <p:cNvSpPr/>
          <p:nvPr/>
        </p:nvSpPr>
        <p:spPr>
          <a:xfrm>
            <a:off x="4471416" y="1554480"/>
            <a:ext cx="3584448" cy="43159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7" name="Text 16"/>
          <p:cNvSpPr txBox="1"/>
          <p:nvPr/>
        </p:nvSpPr>
        <p:spPr>
          <a:xfrm>
            <a:off x="4690872" y="178308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1" i="0">
                <a:solidFill>
                  <a:srgbClr val="326B4B"/>
                </a:solidFill>
                <a:latin typeface="Aptos"/>
              </a:rPr>
              <a:t>HELD - KARP</a:t>
            </a:r>
            <a:endParaRPr lang="en-US" sz="1700"/>
          </a:p>
        </p:txBody>
      </p:sp>
      <p:sp>
        <p:nvSpPr>
          <p:cNvPr id="18" name="Text 17"/>
          <p:cNvSpPr txBox="1"/>
          <p:nvPr/>
        </p:nvSpPr>
        <p:spPr>
          <a:xfrm>
            <a:off x="4690872" y="2167128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0" i="0">
                <a:solidFill>
                  <a:srgbClr val="626262"/>
                </a:solidFill>
                <a:latin typeface="Aptos"/>
              </a:rPr>
              <a:t>Bitmask dynamic programming</a:t>
            </a:r>
            <a:endParaRPr lang="en-US" sz="1200"/>
          </a:p>
        </p:txBody>
      </p:sp>
      <p:sp>
        <p:nvSpPr>
          <p:cNvPr id="19" name="Shape 18"/>
          <p:cNvSpPr/>
          <p:nvPr/>
        </p:nvSpPr>
        <p:spPr>
          <a:xfrm>
            <a:off x="4681728" y="2651760"/>
            <a:ext cx="3154680" cy="804672"/>
          </a:xfrm>
          <a:prstGeom prst="roundRect">
            <a:avLst/>
          </a:prstGeom>
          <a:solidFill>
            <a:srgbClr val="E8EFEA"/>
          </a:solidFill>
          <a:ln w="7620">
            <a:solidFill>
              <a:srgbClr val="D7E1D9"/>
            </a:solidFill>
          </a:ln>
        </p:spPr>
      </p:sp>
      <p:sp>
        <p:nvSpPr>
          <p:cNvPr id="20" name="Text 19"/>
          <p:cNvSpPr txBox="1"/>
          <p:nvPr/>
        </p:nvSpPr>
        <p:spPr>
          <a:xfrm>
            <a:off x="4828032" y="2770632"/>
            <a:ext cx="2852928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 -   -  2 - ) time</a:t>
            </a:r>
            <a:endParaRPr lang="en-US" sz="1400"/>
          </a:p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  -  2 - ) space</a:t>
            </a:r>
            <a:endParaRPr lang="en-US" sz="1400"/>
          </a:p>
        </p:txBody>
      </p:sp>
      <p:sp>
        <p:nvSpPr>
          <p:cNvPr id="21" name="Text 20"/>
          <p:cNvSpPr txBox="1"/>
          <p:nvPr/>
        </p:nvSpPr>
        <p:spPr>
          <a:xfrm>
            <a:off x="4700016" y="3675888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Stores best subset/endpoint states, then reconstructs an optimal route.</a:t>
            </a:r>
            <a:endParaRPr lang="en-US" sz="1500"/>
          </a:p>
        </p:txBody>
      </p:sp>
      <p:sp>
        <p:nvSpPr>
          <p:cNvPr id="22" name="Text 21"/>
          <p:cNvSpPr txBox="1"/>
          <p:nvPr/>
        </p:nvSpPr>
        <p:spPr>
          <a:xfrm>
            <a:off x="4700016" y="513892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Exact  -  cap: 17 cities</a:t>
            </a:r>
            <a:endParaRPr lang="en-US" sz="1200"/>
          </a:p>
        </p:txBody>
      </p:sp>
      <p:sp>
        <p:nvSpPr>
          <p:cNvPr id="23" name="Shape 22"/>
          <p:cNvSpPr/>
          <p:nvPr/>
        </p:nvSpPr>
        <p:spPr>
          <a:xfrm>
            <a:off x="8330184" y="1554480"/>
            <a:ext cx="3584448" cy="431596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4" name="Text 23"/>
          <p:cNvSpPr txBox="1"/>
          <p:nvPr/>
        </p:nvSpPr>
        <p:spPr>
          <a:xfrm>
            <a:off x="8549640" y="1783080"/>
            <a:ext cx="315468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1" i="0">
                <a:solidFill>
                  <a:srgbClr val="326B4B"/>
                </a:solidFill>
                <a:latin typeface="Aptos"/>
              </a:rPr>
              <a:t>BRUTE FORCE</a:t>
            </a:r>
            <a:endParaRPr lang="en-US" sz="1700"/>
          </a:p>
        </p:txBody>
      </p:sp>
      <p:sp>
        <p:nvSpPr>
          <p:cNvPr id="25" name="Text 24"/>
          <p:cNvSpPr txBox="1"/>
          <p:nvPr/>
        </p:nvSpPr>
        <p:spPr>
          <a:xfrm>
            <a:off x="8549640" y="2167128"/>
            <a:ext cx="3127248" cy="2743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0" i="0">
                <a:solidFill>
                  <a:srgbClr val="626262"/>
                </a:solidFill>
                <a:latin typeface="Aptos"/>
              </a:rPr>
              <a:t>Exhaustive permutations</a:t>
            </a:r>
            <a:endParaRPr lang="en-US" sz="1200"/>
          </a:p>
        </p:txBody>
      </p:sp>
      <p:sp>
        <p:nvSpPr>
          <p:cNvPr id="26" name="Shape 25"/>
          <p:cNvSpPr/>
          <p:nvPr/>
        </p:nvSpPr>
        <p:spPr>
          <a:xfrm>
            <a:off x="8540496" y="2651760"/>
            <a:ext cx="3154680" cy="804672"/>
          </a:xfrm>
          <a:prstGeom prst="roundRect">
            <a:avLst/>
          </a:prstGeom>
          <a:solidFill>
            <a:srgbClr val="E8EFEA"/>
          </a:solidFill>
          <a:ln w="7620">
            <a:solidFill>
              <a:srgbClr val="D7E1D9"/>
            </a:solidFill>
          </a:ln>
        </p:spPr>
      </p:sp>
      <p:sp>
        <p:nvSpPr>
          <p:cNvPr id="27" name="Text 26"/>
          <p:cNvSpPr txBox="1"/>
          <p:nvPr/>
        </p:nvSpPr>
        <p:spPr>
          <a:xfrm>
            <a:off x="8686800" y="2770632"/>
            <a:ext cx="2852928" cy="53035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O(N!) time</a:t>
            </a:r>
            <a:endParaRPr lang="en-US" sz="1400"/>
          </a:p>
          <a:p>
            <a:pPr algn="l"/>
            <a:r>
              <a:rPr lang="en-US" sz="1400" b="1" i="0">
                <a:solidFill>
                  <a:srgbClr val="242424"/>
                </a:solidFill>
                <a:latin typeface="Aptos"/>
              </a:rPr>
              <a:t>O(N) space</a:t>
            </a:r>
            <a:endParaRPr lang="en-US" sz="1400"/>
          </a:p>
        </p:txBody>
      </p:sp>
      <p:sp>
        <p:nvSpPr>
          <p:cNvPr id="28" name="Text 27"/>
          <p:cNvSpPr txBox="1"/>
          <p:nvPr/>
        </p:nvSpPr>
        <p:spPr>
          <a:xfrm>
            <a:off x="8558784" y="3675888"/>
            <a:ext cx="3108960" cy="10515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t">
            <a:noAutofit/>
          </a:bodyPr>
          <a:lstStyle/>
          <a:p>
            <a:pPr algn="l"/>
            <a:r>
              <a:rPr lang="en-US" sz="1500" b="0" i="0">
                <a:solidFill>
                  <a:srgbClr val="242424"/>
                </a:solidFill>
                <a:latin typeface="Aptos"/>
              </a:rPr>
              <a:t>Checks city orders and retains the shortest complete tour; prunes losing partial sums.</a:t>
            </a:r>
            <a:endParaRPr lang="en-US" sz="1500"/>
          </a:p>
        </p:txBody>
      </p:sp>
      <p:sp>
        <p:nvSpPr>
          <p:cNvPr id="29" name="Text 28"/>
          <p:cNvSpPr txBox="1"/>
          <p:nvPr/>
        </p:nvSpPr>
        <p:spPr>
          <a:xfrm>
            <a:off x="8558784" y="5138928"/>
            <a:ext cx="310896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1" i="0">
                <a:solidFill>
                  <a:srgbClr val="326B4B"/>
                </a:solidFill>
                <a:latin typeface="Aptos"/>
              </a:rPr>
              <a:t>Exact  -  cap: 10 cities</a:t>
            </a:r>
            <a:endParaRPr lang="en-US" sz="1200"/>
          </a:p>
        </p:txBody>
      </p:sp>
      <p:sp>
        <p:nvSpPr>
          <p:cNvPr id="30" name="Text 29"/>
          <p:cNvSpPr txBox="1"/>
          <p:nvPr/>
        </p:nvSpPr>
        <p:spPr>
          <a:xfrm>
            <a:off x="685800" y="6062472"/>
            <a:ext cx="10698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1">
                <a:solidFill>
                  <a:srgbClr val="626262"/>
                </a:solidFill>
                <a:latin typeface="Aptos"/>
              </a:rPr>
              <a:t>Both exact solvers are size-limited because their computational and memory costs grow rapidly.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How the solvers work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Shared input, different strategies for exploring candidate tours.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05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58368" y="1508760"/>
            <a:ext cx="5285232" cy="16733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0" name="Shape 9"/>
          <p:cNvSpPr/>
          <p:nvPr/>
        </p:nvSpPr>
        <p:spPr>
          <a:xfrm>
            <a:off x="658368" y="1508760"/>
            <a:ext cx="64008" cy="167335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77824" y="164592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Nearest Neighbor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877824" y="2075688"/>
            <a:ext cx="4846320" cy="97840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626262"/>
                </a:solidFill>
                <a:latin typeface="Aptos"/>
              </a:rPr>
              <a:t>Maintain a visited list. At each step scan for the closest unvisited city, append it, and add the return leg for a closed tour.</a:t>
            </a:r>
            <a:endParaRPr lang="en-US" sz="1500"/>
          </a:p>
        </p:txBody>
      </p:sp>
      <p:sp>
        <p:nvSpPr>
          <p:cNvPr id="13" name="Shape 12"/>
          <p:cNvSpPr/>
          <p:nvPr/>
        </p:nvSpPr>
        <p:spPr>
          <a:xfrm>
            <a:off x="6190488" y="1508760"/>
            <a:ext cx="5285232" cy="16733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4" name="Shape 13"/>
          <p:cNvSpPr/>
          <p:nvPr/>
        </p:nvSpPr>
        <p:spPr>
          <a:xfrm>
            <a:off x="6190488" y="1508760"/>
            <a:ext cx="64008" cy="167335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409944" y="164592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Held - Karp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6409944" y="2075688"/>
            <a:ext cx="4846320" cy="97840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626262"/>
                </a:solidFill>
                <a:latin typeface="Aptos"/>
              </a:rPr>
              <a:t>DP state: (visited subset mask, last city). Transition from every valid previous endpoint; store parents for route reconstruction.</a:t>
            </a:r>
            <a:endParaRPr lang="en-US" sz="1500"/>
          </a:p>
        </p:txBody>
      </p:sp>
      <p:sp>
        <p:nvSpPr>
          <p:cNvPr id="17" name="Shape 16"/>
          <p:cNvSpPr/>
          <p:nvPr/>
        </p:nvSpPr>
        <p:spPr>
          <a:xfrm>
            <a:off x="658368" y="3520440"/>
            <a:ext cx="5285232" cy="16733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8" name="Shape 17"/>
          <p:cNvSpPr/>
          <p:nvPr/>
        </p:nvSpPr>
        <p:spPr>
          <a:xfrm>
            <a:off x="658368" y="3520440"/>
            <a:ext cx="64008" cy="167335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9" name="Text 18"/>
          <p:cNvSpPr txBox="1"/>
          <p:nvPr/>
        </p:nvSpPr>
        <p:spPr>
          <a:xfrm>
            <a:off x="877824" y="365760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Brute Force</a:t>
            </a:r>
            <a:endParaRPr lang="en-US" sz="1600"/>
          </a:p>
        </p:txBody>
      </p:sp>
      <p:sp>
        <p:nvSpPr>
          <p:cNvPr id="20" name="Text 19"/>
          <p:cNvSpPr txBox="1"/>
          <p:nvPr/>
        </p:nvSpPr>
        <p:spPr>
          <a:xfrm>
            <a:off x="877824" y="4087368"/>
            <a:ext cx="4846320" cy="97840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626262"/>
                </a:solidFill>
                <a:latin typeface="Aptos"/>
              </a:rPr>
              <a:t>Fix the start and lazily generate permutations of the remaining cities. Add leg distances; stop a partial sum if it cannot beat the best tour.</a:t>
            </a:r>
            <a:endParaRPr lang="en-US" sz="1500"/>
          </a:p>
        </p:txBody>
      </p:sp>
      <p:sp>
        <p:nvSpPr>
          <p:cNvPr id="21" name="Shape 20"/>
          <p:cNvSpPr/>
          <p:nvPr/>
        </p:nvSpPr>
        <p:spPr>
          <a:xfrm>
            <a:off x="6190488" y="3520440"/>
            <a:ext cx="5285232" cy="167335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2" name="Shape 21"/>
          <p:cNvSpPr/>
          <p:nvPr/>
        </p:nvSpPr>
        <p:spPr>
          <a:xfrm>
            <a:off x="6190488" y="3520440"/>
            <a:ext cx="64008" cy="167335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3" name="Text 22"/>
          <p:cNvSpPr txBox="1"/>
          <p:nvPr/>
        </p:nvSpPr>
        <p:spPr>
          <a:xfrm>
            <a:off x="6409944" y="3657600"/>
            <a:ext cx="4873752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Common route modes</a:t>
            </a:r>
            <a:endParaRPr lang="en-US" sz="1600"/>
          </a:p>
        </p:txBody>
      </p:sp>
      <p:sp>
        <p:nvSpPr>
          <p:cNvPr id="24" name="Text 23"/>
          <p:cNvSpPr txBox="1"/>
          <p:nvPr/>
        </p:nvSpPr>
        <p:spPr>
          <a:xfrm>
            <a:off x="6409944" y="4087368"/>
            <a:ext cx="4846320" cy="97840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500" b="0" i="0">
                <a:solidFill>
                  <a:srgbClr val="626262"/>
                </a:solidFill>
                <a:latin typeface="Aptos"/>
              </a:rPr>
              <a:t>The solvers accept a start index and a round-trip flag. Each algorithm uses matrix values directly; map and road-distance services are handled separately.</a:t>
            </a:r>
            <a:endParaRPr lang="en-US" sz="1500"/>
          </a:p>
        </p:txBody>
      </p:sp>
      <p:sp>
        <p:nvSpPr>
          <p:cNvPr id="25" name="Text 24"/>
          <p:cNvSpPr txBox="1"/>
          <p:nvPr/>
        </p:nvSpPr>
        <p:spPr>
          <a:xfrm>
            <a:off x="722376" y="5650992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300" b="1" i="0">
                <a:solidFill>
                  <a:srgbClr val="326B4B"/>
                </a:solidFill>
                <a:latin typeface="Aptos"/>
              </a:rPr>
              <a:t>Correctness check: Held - Karp and Brute Force provide exact answers for inputs within their implementation limits.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Sample case: four European cities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Existing simulator/test matrix  -  round trip starting in Berlin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06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58368" y="1554480"/>
            <a:ext cx="10835640" cy="731520"/>
          </a:xfrm>
          <a:prstGeom prst="roundRect">
            <a:avLst/>
          </a:prstGeom>
          <a:solidFill>
            <a:srgbClr val="E8EFEA"/>
          </a:solidFill>
          <a:ln w="7620">
            <a:solidFill>
              <a:srgbClr val="D7E1D9"/>
            </a:solidFill>
          </a:ln>
        </p:spPr>
      </p:sp>
      <p:sp>
        <p:nvSpPr>
          <p:cNvPr id="10" name="Text 9"/>
          <p:cNvSpPr txBox="1"/>
          <p:nvPr/>
        </p:nvSpPr>
        <p:spPr>
          <a:xfrm>
            <a:off x="896112" y="1691640"/>
            <a:ext cx="10287000" cy="4297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lang="en-US" sz="1900" b="1" i="0">
                <a:solidFill>
                  <a:srgbClr val="242424"/>
                </a:solidFill>
                <a:latin typeface="Aptos"/>
              </a:rPr>
              <a:t>Berlin   -   Prague   -   Vienna   -   Munich   -   Berlin</a:t>
            </a:r>
            <a:endParaRPr lang="en-US" sz="1900"/>
          </a:p>
        </p:txBody>
      </p:sp>
      <p:sp>
        <p:nvSpPr>
          <p:cNvPr id="11" name="Shape 10"/>
          <p:cNvSpPr/>
          <p:nvPr/>
        </p:nvSpPr>
        <p:spPr>
          <a:xfrm>
            <a:off x="658368" y="2651760"/>
            <a:ext cx="3401568" cy="15361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2" name="Shape 11"/>
          <p:cNvSpPr/>
          <p:nvPr/>
        </p:nvSpPr>
        <p:spPr>
          <a:xfrm>
            <a:off x="658368" y="2651760"/>
            <a:ext cx="64008" cy="153619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3" name="Text 12"/>
          <p:cNvSpPr txBox="1"/>
          <p:nvPr/>
        </p:nvSpPr>
        <p:spPr>
          <a:xfrm>
            <a:off x="877824" y="2788920"/>
            <a:ext cx="299008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Nearest Neighbor</a:t>
            </a:r>
            <a:endParaRPr lang="en-US" sz="1600"/>
          </a:p>
        </p:txBody>
      </p:sp>
      <p:sp>
        <p:nvSpPr>
          <p:cNvPr id="14" name="Text 13"/>
          <p:cNvSpPr txBox="1"/>
          <p:nvPr/>
        </p:nvSpPr>
        <p:spPr>
          <a:xfrm>
            <a:off x="877824" y="3218688"/>
            <a:ext cx="2962656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Tour distance</a:t>
            </a:r>
            <a:endParaRPr lang="en-US" sz="1900"/>
          </a:p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1,391 km</a:t>
            </a:r>
            <a:endParaRPr lang="en-US" sz="1900"/>
          </a:p>
        </p:txBody>
      </p:sp>
      <p:sp>
        <p:nvSpPr>
          <p:cNvPr id="15" name="Shape 14"/>
          <p:cNvSpPr/>
          <p:nvPr/>
        </p:nvSpPr>
        <p:spPr>
          <a:xfrm>
            <a:off x="4370832" y="2651760"/>
            <a:ext cx="3401568" cy="15361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6" name="Shape 15"/>
          <p:cNvSpPr/>
          <p:nvPr/>
        </p:nvSpPr>
        <p:spPr>
          <a:xfrm>
            <a:off x="4370832" y="2651760"/>
            <a:ext cx="64008" cy="153619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7" name="Text 16"/>
          <p:cNvSpPr txBox="1"/>
          <p:nvPr/>
        </p:nvSpPr>
        <p:spPr>
          <a:xfrm>
            <a:off x="4590288" y="2788920"/>
            <a:ext cx="299008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Held - Karp</a:t>
            </a:r>
            <a:endParaRPr lang="en-US" sz="1600"/>
          </a:p>
        </p:txBody>
      </p:sp>
      <p:sp>
        <p:nvSpPr>
          <p:cNvPr id="18" name="Text 17"/>
          <p:cNvSpPr txBox="1"/>
          <p:nvPr/>
        </p:nvSpPr>
        <p:spPr>
          <a:xfrm>
            <a:off x="4590288" y="3218688"/>
            <a:ext cx="2962656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Tour distance</a:t>
            </a:r>
            <a:endParaRPr lang="en-US" sz="1900"/>
          </a:p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1,391 km</a:t>
            </a:r>
            <a:endParaRPr lang="en-US" sz="1900"/>
          </a:p>
        </p:txBody>
      </p:sp>
      <p:sp>
        <p:nvSpPr>
          <p:cNvPr id="19" name="Shape 18"/>
          <p:cNvSpPr/>
          <p:nvPr/>
        </p:nvSpPr>
        <p:spPr>
          <a:xfrm>
            <a:off x="8065008" y="2651760"/>
            <a:ext cx="3401568" cy="15361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0" name="Shape 19"/>
          <p:cNvSpPr/>
          <p:nvPr/>
        </p:nvSpPr>
        <p:spPr>
          <a:xfrm>
            <a:off x="8065008" y="2651760"/>
            <a:ext cx="64008" cy="1536192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1" name="Text 20"/>
          <p:cNvSpPr txBox="1"/>
          <p:nvPr/>
        </p:nvSpPr>
        <p:spPr>
          <a:xfrm>
            <a:off x="8284464" y="2788920"/>
            <a:ext cx="2990088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Brute Force</a:t>
            </a:r>
            <a:endParaRPr lang="en-US" sz="1600"/>
          </a:p>
        </p:txBody>
      </p:sp>
      <p:sp>
        <p:nvSpPr>
          <p:cNvPr id="22" name="Text 21"/>
          <p:cNvSpPr txBox="1"/>
          <p:nvPr/>
        </p:nvSpPr>
        <p:spPr>
          <a:xfrm>
            <a:off x="8284464" y="3218688"/>
            <a:ext cx="2962656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Tour distance</a:t>
            </a:r>
            <a:endParaRPr lang="en-US" sz="1900"/>
          </a:p>
          <a:p>
            <a:pPr algn="l"/>
            <a:r>
              <a:rPr lang="en-US" sz="1900" b="0" i="0">
                <a:solidFill>
                  <a:srgbClr val="626262"/>
                </a:solidFill>
                <a:latin typeface="Aptos"/>
              </a:rPr>
              <a:t>1,391 km</a:t>
            </a:r>
            <a:endParaRPr lang="en-US" sz="1900"/>
          </a:p>
        </p:txBody>
      </p:sp>
      <p:sp>
        <p:nvSpPr>
          <p:cNvPr id="23" name="Shape 22"/>
          <p:cNvSpPr/>
          <p:nvPr/>
        </p:nvSpPr>
        <p:spPr>
          <a:xfrm>
            <a:off x="658368" y="4617720"/>
            <a:ext cx="10835640" cy="8412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4" name="Text 23"/>
          <p:cNvSpPr txBox="1"/>
          <p:nvPr/>
        </p:nvSpPr>
        <p:spPr>
          <a:xfrm>
            <a:off x="896112" y="4736592"/>
            <a:ext cx="10332720" cy="57607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400" b="0" i="0">
                <a:solidFill>
                  <a:srgbClr val="242424"/>
                </a:solidFill>
                <a:latin typeface="Aptos"/>
              </a:rPr>
              <a:t>The exact solvers agree on the shortest distance for this sample. Held - Karp may return a different ordering with the same distance.</a:t>
            </a:r>
            <a:endParaRPr lang="en-US" sz="1400"/>
          </a:p>
        </p:txBody>
      </p:sp>
      <p:sp>
        <p:nvSpPr>
          <p:cNvPr id="25" name="Text 24"/>
          <p:cNvSpPr txBox="1"/>
          <p:nvPr/>
        </p:nvSpPr>
        <p:spPr>
          <a:xfrm>
            <a:off x="722376" y="580644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1">
                <a:solidFill>
                  <a:srgbClr val="626262"/>
                </a:solidFill>
                <a:latin typeface="Aptos"/>
              </a:rPr>
              <a:t>Illustrative sample only - not a general benchmark or a claim about performance on other inputs.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F7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594360" y="347472"/>
            <a:ext cx="9966960" cy="5669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2700" b="1" i="0">
                <a:solidFill>
                  <a:srgbClr val="242424"/>
                </a:solidFill>
                <a:latin typeface="Aptos"/>
              </a:rPr>
              <a:t>Application architecture</a:t>
            </a:r>
            <a:endParaRPr lang="en-US" sz="2700"/>
          </a:p>
        </p:txBody>
      </p:sp>
      <p:sp>
        <p:nvSpPr>
          <p:cNvPr id="5" name="Shape 4"/>
          <p:cNvSpPr/>
          <p:nvPr/>
        </p:nvSpPr>
        <p:spPr>
          <a:xfrm>
            <a:off x="612648" y="1033272"/>
            <a:ext cx="566928" cy="50292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6" name="Text 5"/>
          <p:cNvSpPr txBox="1"/>
          <p:nvPr/>
        </p:nvSpPr>
        <p:spPr>
          <a:xfrm>
            <a:off x="1298448" y="914400"/>
            <a:ext cx="1014984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626262"/>
                </a:solidFill>
                <a:latin typeface="Aptos"/>
              </a:rPr>
              <a:t>A web interface around a Python optimization service.</a:t>
            </a:r>
            <a:endParaRPr lang="en-US" sz="1100"/>
          </a:p>
        </p:txBody>
      </p:sp>
      <p:sp>
        <p:nvSpPr>
          <p:cNvPr id="7" name="Text 6"/>
          <p:cNvSpPr txBox="1"/>
          <p:nvPr/>
        </p:nvSpPr>
        <p:spPr>
          <a:xfrm>
            <a:off x="594360" y="6473952"/>
            <a:ext cx="9601200" cy="1828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800" b="1" i="0">
                <a:solidFill>
                  <a:srgbClr val="626262"/>
                </a:solidFill>
                <a:latin typeface="Aptos"/>
              </a:rPr>
              <a:t>VOYAGEAI   -   DAA HACKATHON</a:t>
            </a:r>
            <a:endParaRPr lang="en-US" sz="800"/>
          </a:p>
        </p:txBody>
      </p:sp>
      <p:sp>
        <p:nvSpPr>
          <p:cNvPr id="8" name="Text 7"/>
          <p:cNvSpPr txBox="1"/>
          <p:nvPr/>
        </p:nvSpPr>
        <p:spPr>
          <a:xfrm>
            <a:off x="11064240" y="6455664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r"/>
            <a:r>
              <a:rPr lang="en-US" sz="900" b="1" i="0">
                <a:solidFill>
                  <a:srgbClr val="626262"/>
                </a:solidFill>
                <a:latin typeface="Aptos"/>
              </a:rPr>
              <a:t>07</a:t>
            </a:r>
            <a:endParaRPr lang="en-US" sz="900"/>
          </a:p>
        </p:txBody>
      </p:sp>
      <p:sp>
        <p:nvSpPr>
          <p:cNvPr id="9" name="Shape 8"/>
          <p:cNvSpPr/>
          <p:nvPr/>
        </p:nvSpPr>
        <p:spPr>
          <a:xfrm>
            <a:off x="658368" y="1572768"/>
            <a:ext cx="5257800" cy="14813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0" name="Shape 9"/>
          <p:cNvSpPr/>
          <p:nvPr/>
        </p:nvSpPr>
        <p:spPr>
          <a:xfrm>
            <a:off x="658368" y="1572768"/>
            <a:ext cx="64008" cy="148132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1" name="Text 10"/>
          <p:cNvSpPr txBox="1"/>
          <p:nvPr/>
        </p:nvSpPr>
        <p:spPr>
          <a:xfrm>
            <a:off x="877824" y="17099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Frontend</a:t>
            </a:r>
            <a:endParaRPr lang="en-US" sz="1600"/>
          </a:p>
        </p:txBody>
      </p:sp>
      <p:sp>
        <p:nvSpPr>
          <p:cNvPr id="12" name="Text 11"/>
          <p:cNvSpPr txBox="1"/>
          <p:nvPr/>
        </p:nvSpPr>
        <p:spPr>
          <a:xfrm>
            <a:off x="877824" y="2139696"/>
            <a:ext cx="4818888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400" b="0" i="0">
                <a:solidFill>
                  <a:srgbClr val="626262"/>
                </a:solidFill>
                <a:latin typeface="Aptos"/>
              </a:rPr>
              <a:t>React + TypeScript + Vite. Route planner, algorithm lab, comparison view, results, and Leaflet map using OpenStreetMap.</a:t>
            </a:r>
            <a:endParaRPr lang="en-US" sz="1400"/>
          </a:p>
        </p:txBody>
      </p:sp>
      <p:sp>
        <p:nvSpPr>
          <p:cNvPr id="13" name="Shape 12"/>
          <p:cNvSpPr/>
          <p:nvPr/>
        </p:nvSpPr>
        <p:spPr>
          <a:xfrm>
            <a:off x="6190488" y="1572768"/>
            <a:ext cx="5257800" cy="14813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4" name="Shape 13"/>
          <p:cNvSpPr/>
          <p:nvPr/>
        </p:nvSpPr>
        <p:spPr>
          <a:xfrm>
            <a:off x="6190488" y="1572768"/>
            <a:ext cx="64008" cy="148132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5" name="Text 14"/>
          <p:cNvSpPr txBox="1"/>
          <p:nvPr/>
        </p:nvSpPr>
        <p:spPr>
          <a:xfrm>
            <a:off x="6409944" y="170992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Backend</a:t>
            </a:r>
            <a:endParaRPr lang="en-US" sz="1600"/>
          </a:p>
        </p:txBody>
      </p:sp>
      <p:sp>
        <p:nvSpPr>
          <p:cNvPr id="16" name="Text 15"/>
          <p:cNvSpPr txBox="1"/>
          <p:nvPr/>
        </p:nvSpPr>
        <p:spPr>
          <a:xfrm>
            <a:off x="6409944" y="2139696"/>
            <a:ext cx="4818888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400" b="0" i="0">
                <a:solidFill>
                  <a:srgbClr val="626262"/>
                </a:solidFill>
                <a:latin typeface="Aptos"/>
              </a:rPr>
              <a:t>FastAPI + Python. API endpoints coordinate city lookup, matrix acquisition, selected solver, route details, and cost estimates.</a:t>
            </a:r>
            <a:endParaRPr lang="en-US" sz="1400"/>
          </a:p>
        </p:txBody>
      </p:sp>
      <p:sp>
        <p:nvSpPr>
          <p:cNvPr id="17" name="Text 16"/>
          <p:cNvSpPr txBox="1"/>
          <p:nvPr/>
        </p:nvSpPr>
        <p:spPr>
          <a:xfrm>
            <a:off x="5897880" y="2057400"/>
            <a:ext cx="256032" cy="41148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ctr"/>
            <a:r>
              <a:rPr lang="en-US" sz="2000" b="1" i="0">
                <a:solidFill>
                  <a:srgbClr val="326B4B"/>
                </a:solidFill>
                <a:latin typeface="Aptos"/>
              </a:rPr>
              <a:t> - </a:t>
            </a:r>
            <a:endParaRPr lang="en-US" sz="2000"/>
          </a:p>
        </p:txBody>
      </p:sp>
      <p:sp>
        <p:nvSpPr>
          <p:cNvPr id="18" name="Shape 17"/>
          <p:cNvSpPr/>
          <p:nvPr/>
        </p:nvSpPr>
        <p:spPr>
          <a:xfrm>
            <a:off x="658368" y="3474720"/>
            <a:ext cx="5257800" cy="14813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19" name="Shape 18"/>
          <p:cNvSpPr/>
          <p:nvPr/>
        </p:nvSpPr>
        <p:spPr>
          <a:xfrm>
            <a:off x="658368" y="3474720"/>
            <a:ext cx="64008" cy="148132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0" name="Text 19"/>
          <p:cNvSpPr txBox="1"/>
          <p:nvPr/>
        </p:nvSpPr>
        <p:spPr>
          <a:xfrm>
            <a:off x="877824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Routing data</a:t>
            </a:r>
            <a:endParaRPr lang="en-US" sz="1600"/>
          </a:p>
        </p:txBody>
      </p:sp>
      <p:sp>
        <p:nvSpPr>
          <p:cNvPr id="21" name="Text 20"/>
          <p:cNvSpPr txBox="1"/>
          <p:nvPr/>
        </p:nvSpPr>
        <p:spPr>
          <a:xfrm>
            <a:off x="877824" y="4041648"/>
            <a:ext cx="4818888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400" b="0" i="0">
                <a:solidFill>
                  <a:srgbClr val="626262"/>
                </a:solidFill>
                <a:latin typeface="Aptos"/>
              </a:rPr>
              <a:t>OSRM provides road distance/duration and route geometry when reachable. Haversine-based distances and interpolated arcs are the fallback.</a:t>
            </a:r>
            <a:endParaRPr lang="en-US" sz="1400"/>
          </a:p>
        </p:txBody>
      </p:sp>
      <p:sp>
        <p:nvSpPr>
          <p:cNvPr id="22" name="Shape 21"/>
          <p:cNvSpPr/>
          <p:nvPr/>
        </p:nvSpPr>
        <p:spPr>
          <a:xfrm>
            <a:off x="6190488" y="3474720"/>
            <a:ext cx="5257800" cy="14813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DDD9"/>
            </a:solidFill>
          </a:ln>
        </p:spPr>
      </p:sp>
      <p:sp>
        <p:nvSpPr>
          <p:cNvPr id="23" name="Shape 22"/>
          <p:cNvSpPr/>
          <p:nvPr/>
        </p:nvSpPr>
        <p:spPr>
          <a:xfrm>
            <a:off x="6190488" y="3474720"/>
            <a:ext cx="64008" cy="1481328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24" name="Text 23"/>
          <p:cNvSpPr txBox="1"/>
          <p:nvPr/>
        </p:nvSpPr>
        <p:spPr>
          <a:xfrm>
            <a:off x="6409944" y="361188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600" b="1" i="0">
                <a:solidFill>
                  <a:srgbClr val="242424"/>
                </a:solidFill>
                <a:latin typeface="Aptos"/>
              </a:rPr>
              <a:t>Planning estimates</a:t>
            </a:r>
            <a:endParaRPr lang="en-US" sz="1600"/>
          </a:p>
        </p:txBody>
      </p:sp>
      <p:sp>
        <p:nvSpPr>
          <p:cNvPr id="25" name="Text 24"/>
          <p:cNvSpPr txBox="1"/>
          <p:nvPr/>
        </p:nvSpPr>
        <p:spPr>
          <a:xfrm>
            <a:off x="6409944" y="4041648"/>
            <a:ext cx="4818888" cy="78638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9144" bIns="9144" anchor="t">
            <a:noAutofit/>
          </a:bodyPr>
          <a:lstStyle/>
          <a:p>
            <a:pPr algn="l"/>
            <a:r>
              <a:rPr lang="en-US" sz="1400" b="0" i="0">
                <a:solidFill>
                  <a:srgbClr val="626262"/>
                </a:solidFill>
                <a:latin typeface="Aptos"/>
              </a:rPr>
              <a:t>Vehicle profiles estimate fuel/energy, toll, maintenance, and emissions. Displayed costs are indicative, not live quotes.</a:t>
            </a:r>
            <a:endParaRPr lang="en-US" sz="1400"/>
          </a:p>
        </p:txBody>
      </p:sp>
      <p:sp>
        <p:nvSpPr>
          <p:cNvPr id="26" name="Text 25"/>
          <p:cNvSpPr txBox="1"/>
          <p:nvPr/>
        </p:nvSpPr>
        <p:spPr>
          <a:xfrm>
            <a:off x="722376" y="560527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200" b="0" i="0">
                <a:solidFill>
                  <a:srgbClr val="626262"/>
                </a:solidFill>
                <a:latin typeface="Aptos"/>
              </a:rPr>
              <a:t>Algorithm comparisons run available solvers against the same distance matrix; exact methods are skipped beyond their configured limits.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showMasterSp="1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/>
          <p:cNvSpPr txBox="1"/>
          <p:nvPr/>
        </p:nvSpPr>
        <p:spPr>
          <a:xfrm>
            <a:off x="777240" y="658368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1" i="0">
                <a:solidFill>
                  <a:srgbClr val="D0D0D0"/>
                </a:solidFill>
                <a:latin typeface="Aptos"/>
              </a:rPr>
              <a:t>VOYAGEAI  /  CONCLUSION</a:t>
            </a:r>
            <a:endParaRPr lang="en-US" sz="1100"/>
          </a:p>
        </p:txBody>
      </p:sp>
      <p:sp>
        <p:nvSpPr>
          <p:cNvPr id="5" name="Text 4"/>
          <p:cNvSpPr txBox="1"/>
          <p:nvPr/>
        </p:nvSpPr>
        <p:spPr>
          <a:xfrm>
            <a:off x="777240" y="14173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3000" b="1" i="0">
                <a:solidFill>
                  <a:srgbClr val="FFFFFF"/>
                </a:solidFill>
                <a:latin typeface="Aptos"/>
              </a:rPr>
              <a:t>One TSP problem. Three DAA perspectives.</a:t>
            </a:r>
            <a:endParaRPr lang="en-US" sz="3000"/>
          </a:p>
        </p:txBody>
      </p:sp>
      <p:sp>
        <p:nvSpPr>
          <p:cNvPr id="6" name="Shape 5"/>
          <p:cNvSpPr/>
          <p:nvPr/>
        </p:nvSpPr>
        <p:spPr>
          <a:xfrm>
            <a:off x="795528" y="2331720"/>
            <a:ext cx="594360" cy="54864"/>
          </a:xfrm>
          <a:prstGeom prst="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7" name="Shape 6"/>
          <p:cNvSpPr/>
          <p:nvPr/>
        </p:nvSpPr>
        <p:spPr>
          <a:xfrm>
            <a:off x="841248" y="2898648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8" name="Text 7"/>
          <p:cNvSpPr txBox="1"/>
          <p:nvPr/>
        </p:nvSpPr>
        <p:spPr>
          <a:xfrm>
            <a:off x="1042416" y="2788920"/>
            <a:ext cx="10085832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0" i="0">
                <a:solidFill>
                  <a:srgbClr val="E5E5E5"/>
                </a:solidFill>
                <a:latin typeface="Aptos"/>
              </a:rPr>
              <a:t>Greedy Nearest Neighbor offers a fast heuristic for larger stop sets.</a:t>
            </a:r>
            <a:endParaRPr lang="en-US" sz="1700"/>
          </a:p>
        </p:txBody>
      </p:sp>
      <p:sp>
        <p:nvSpPr>
          <p:cNvPr id="9" name="Shape 8"/>
          <p:cNvSpPr/>
          <p:nvPr/>
        </p:nvSpPr>
        <p:spPr>
          <a:xfrm>
            <a:off x="841248" y="3557016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0" name="Text 9"/>
          <p:cNvSpPr txBox="1"/>
          <p:nvPr/>
        </p:nvSpPr>
        <p:spPr>
          <a:xfrm>
            <a:off x="1042416" y="3447288"/>
            <a:ext cx="10085832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0" i="0">
                <a:solidFill>
                  <a:srgbClr val="E5E5E5"/>
                </a:solidFill>
                <a:latin typeface="Aptos"/>
              </a:rPr>
              <a:t>Held - Karp and Brute Force provide exact solutions within practical input caps.</a:t>
            </a:r>
            <a:endParaRPr lang="en-US" sz="1700"/>
          </a:p>
        </p:txBody>
      </p:sp>
      <p:sp>
        <p:nvSpPr>
          <p:cNvPr id="11" name="Shape 10"/>
          <p:cNvSpPr/>
          <p:nvPr/>
        </p:nvSpPr>
        <p:spPr>
          <a:xfrm>
            <a:off x="841248" y="4215384"/>
            <a:ext cx="82296" cy="82296"/>
          </a:xfrm>
          <a:prstGeom prst="roundRect">
            <a:avLst/>
          </a:prstGeom>
          <a:solidFill>
            <a:srgbClr val="326B4B"/>
          </a:solidFill>
          <a:ln>
            <a:noFill/>
          </a:ln>
        </p:spPr>
      </p:sp>
      <p:sp>
        <p:nvSpPr>
          <p:cNvPr id="12" name="Text 11"/>
          <p:cNvSpPr txBox="1"/>
          <p:nvPr/>
        </p:nvSpPr>
        <p:spPr>
          <a:xfrm>
            <a:off x="1042416" y="4105656"/>
            <a:ext cx="10085832" cy="621792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700" b="0" i="0">
                <a:solidFill>
                  <a:srgbClr val="E5E5E5"/>
                </a:solidFill>
                <a:latin typeface="Aptos"/>
              </a:rPr>
              <a:t>The application connects algorithmic results to road-aware mapping and trip estimates.</a:t>
            </a:r>
            <a:endParaRPr lang="en-US" sz="1700"/>
          </a:p>
        </p:txBody>
      </p:sp>
      <p:sp>
        <p:nvSpPr>
          <p:cNvPr id="13" name="Shape 12"/>
          <p:cNvSpPr/>
          <p:nvPr/>
        </p:nvSpPr>
        <p:spPr>
          <a:xfrm>
            <a:off x="795528" y="5166360"/>
            <a:ext cx="10652760" cy="667512"/>
          </a:xfrm>
          <a:prstGeom prst="roundRect">
            <a:avLst/>
          </a:prstGeom>
          <a:solidFill>
            <a:srgbClr val="292929"/>
          </a:solidFill>
          <a:ln w="7620">
            <a:solidFill>
              <a:srgbClr val="444444"/>
            </a:solidFill>
          </a:ln>
        </p:spPr>
      </p:sp>
      <p:sp>
        <p:nvSpPr>
          <p:cNvPr id="14" name="Text 13"/>
          <p:cNvSpPr txBox="1"/>
          <p:nvPr/>
        </p:nvSpPr>
        <p:spPr>
          <a:xfrm>
            <a:off x="1024128" y="5321808"/>
            <a:ext cx="10149840" cy="329184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400" b="1" i="0">
                <a:solidFill>
                  <a:srgbClr val="FFFFFF"/>
                </a:solidFill>
                <a:latin typeface="Aptos"/>
              </a:rPr>
              <a:t>Next: explore trade-offs by changing the cities, route mode, and solver.</a:t>
            </a:r>
            <a:endParaRPr lang="en-US" sz="1400"/>
          </a:p>
        </p:txBody>
      </p:sp>
      <p:sp>
        <p:nvSpPr>
          <p:cNvPr id="15" name="Text 14"/>
          <p:cNvSpPr txBox="1"/>
          <p:nvPr/>
        </p:nvSpPr>
        <p:spPr>
          <a:xfrm>
            <a:off x="795528" y="6217920"/>
            <a:ext cx="9692640" cy="228600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noAutofit/>
          </a:bodyPr>
          <a:lstStyle/>
          <a:p>
            <a:pPr algn="l"/>
            <a:r>
              <a:rPr lang="en-US" sz="1100" b="0" i="0">
                <a:solidFill>
                  <a:srgbClr val="B8B8B8"/>
                </a:solidFill>
                <a:latin typeface="Aptos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yageAI">
  <a:themeElements>
    <a:clrScheme name="VoyageAI">
      <a:dk1>
        <a:srgbClr val="171717"/>
      </a:dk1>
      <a:lt1>
        <a:srgbClr val="FFFFFF"/>
      </a:lt1>
      <a:dk2>
        <a:srgbClr val="242424"/>
      </a:dk2>
      <a:lt2>
        <a:srgbClr val="F7F7F3"/>
      </a:lt2>
      <a:accent1>
        <a:srgbClr val="326B4B"/>
      </a:accent1>
      <a:accent2>
        <a:srgbClr val="777777"/>
      </a:accent2>
      <a:accent3>
        <a:srgbClr val="AAB5AC"/>
      </a:accent3>
      <a:accent4>
        <a:srgbClr val="D0D0D0"/>
      </a:accent4>
      <a:accent5>
        <a:srgbClr val="595959"/>
      </a:accent5>
      <a:accent6>
        <a:srgbClr val="E8EFEA"/>
      </a:accent6>
      <a:hlink>
        <a:srgbClr val="326B4B"/>
      </a:hlink>
      <a:folHlink>
        <a:srgbClr val="326B4B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VoyageAI">
      <a:fillStyleLst>
        <a:solidFill>
          <a:schemeClr val="accent1"/>
        </a:solidFill>
        <a:solidFill>
          <a:schemeClr val="accent1"/>
        </a:solidFill>
        <a:solidFill>
          <a:schemeClr val="accent1"/>
        </a:solidFill>
      </a:fillStyleLst>
      <a:lnStyleLst>
        <a:ln w="6350" cap="flat" cmpd="sng" algn="ctr">
          <a:solidFill>
            <a:schemeClr val="accent1"/>
          </a:solidFill>
          <a:prstDash val="solid"/>
          <a:round/>
        </a:ln>
        <a:ln w="12700" cap="flat" cmpd="sng" algn="ctr">
          <a:solidFill>
            <a:schemeClr val="accent1"/>
          </a:solidFill>
          <a:prstDash val="solid"/>
          <a:round/>
        </a:ln>
        <a:ln w="19050" cap="flat" cmpd="sng" algn="ctr">
          <a:solidFill>
            <a:schemeClr val="accent1"/>
          </a:solidFill>
          <a:prstDash val="solid"/>
          <a:round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1"/>
        </a:solidFill>
        <a:solidFill>
          <a:schemeClr val="lt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8</Slides>
</Properties>
</file>

<file path=docProps/core.xml><?xml version="1.0" encoding="utf-8"?>
<cp:coreProperties xmlns:cp="http://schemas.openxmlformats.org/package/2006/metadata/core-properties" xmlns:dc="http://purl.org/dc/elements/1.1/">
  <dc:title>VoyageAI ? DAA Hackathon Presentation</dc:title>
  <dc:subject>Traveling Salesperson Problem and DAA algorithms</dc:subject>
  <dc:creator>VoyageAI</dc:creator>
</cp:coreProperties>
</file>